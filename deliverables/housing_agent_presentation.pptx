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project as a student-housing search agent near university hubs. The central design choice is asking enough preference questions to choose the correct scraper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narrows the user to students around university hubs. The agent is less a generic rental bot and more a tool-router for student housing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provider/tool selection is the core agentic decision. The LLM does not execute; it helps gather preferences.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explicit: these three providers are the three main tools. Other modules support choosing and safely executing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addresses the memory requirement honestly: structured retrieval over state and provider knowledge, not semantic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directly addresses the assignment's three-tool requirement: Ohana, RentalSource, AffordableHousing. The model and planner support the tool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current routing behavior the user requested: multiple roommates to RentalSource, single/private-room to Ohana, extenuating conditions to AffordableHousing.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threat-model slide. Tie each risk directly to a validation or guardrail point in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result presentation around student decisions: price, location-vs-campus, roommate fit, dates, amenities, and map visualization.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actual verification result from the current tree and explains how edge cases and adversarial cases are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the three required transcripts in the design document and as a lightweight demo script in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24536B"/>
          </a:solidFill>
          <a:ln w="12700">
            <a:solidFill>
              <a:srgbClr val="2453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20240" y="0"/>
            <a:ext cx="137160" cy="6858000"/>
          </a:xfrm>
          <a:prstGeom prst="rect">
            <a:avLst/>
          </a:prstGeom>
          <a:solidFill>
            <a:srgbClr val="D9654F"/>
          </a:solidFill>
          <a:ln w="12700">
            <a:solidFill>
              <a:srgbClr val="D96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1051560"/>
            <a:ext cx="10972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Housing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0" y="960120"/>
            <a:ext cx="69494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Provider-aware browser tools for safer rental search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743200" y="1737360"/>
            <a:ext cx="6949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document companion deck: a student-housing agent that asks preference questions, chooses one of three site-scraping tools, and presents listings near major university hubs.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2788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D8C7C"/>
          </a:solidFill>
          <a:ln w="12700">
            <a:solidFill>
              <a:srgbClr val="2D8C7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2852928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only plans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0" y="2788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4536B"/>
          </a:solidFill>
          <a:ln w="12700">
            <a:solidFill>
              <a:srgbClr val="2453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852928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executes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0" y="2788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9654F"/>
          </a:solidFill>
          <a:ln w="12700">
            <a:solidFill>
              <a:srgbClr val="D9654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852928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persist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229600" y="2788920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2852928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narrow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0" y="3840480"/>
            <a:ext cx="7132320" cy="1188720"/>
          </a:xfrm>
          <a:prstGeom prst="roundRect">
            <a:avLst>
              <a:gd name="adj" fmla="val 9231"/>
            </a:avLst>
          </a:prstGeom>
          <a:solidFill>
            <a:srgbClr val="F6F1E7"/>
          </a:solidFill>
          <a:ln w="10160">
            <a:solidFill>
              <a:srgbClr val="E1D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4041648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4370832"/>
            <a:ext cx="6492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agent's main job is deciding which housing-site tool to call for a student's needs.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43200" y="6217920"/>
            <a:ext cx="6766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current codebase. Unit suite: 108 passed, 4 live tests skipped by default.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Students need housing answers that depend on context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housing preferences are not one-size-fits-all.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356616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vs long-term, roommates vs solo, amenities, distance to campus, dates, and budget all change which site should be searched.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114800" y="1298448"/>
            <a:ext cx="425196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agent's primary job is tool selection: ask the right questions, then call the right housing site.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058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862072"/>
            <a:ext cx="1234440" cy="0"/>
          </a:xfrm>
          <a:prstGeom prst="line">
            <a:avLst/>
          </a:prstGeom>
          <a:noFill/>
          <a:ln w="10160">
            <a:solidFill>
              <a:srgbClr val="C9D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743200"/>
            <a:ext cx="2651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need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10058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00200" y="3364992"/>
            <a:ext cx="1234440" cy="0"/>
          </a:xfrm>
          <a:prstGeom prst="line">
            <a:avLst/>
          </a:prstGeom>
          <a:noFill/>
          <a:ln w="10160">
            <a:solidFill>
              <a:srgbClr val="C9D4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246120"/>
            <a:ext cx="2651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provider-neutral intent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10058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867912"/>
            <a:ext cx="1234440" cy="0"/>
          </a:xfrm>
          <a:prstGeom prst="line">
            <a:avLst/>
          </a:prstGeom>
          <a:noFill/>
          <a:ln w="10160">
            <a:solidFill>
              <a:srgbClr val="C9D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3749040"/>
            <a:ext cx="2651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that fits the situation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10058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00200" y="4370832"/>
            <a:ext cx="1234440" cy="0"/>
          </a:xfrm>
          <a:prstGeom prst="line">
            <a:avLst/>
          </a:prstGeom>
          <a:noFill/>
          <a:ln w="10160">
            <a:solidFill>
              <a:srgbClr val="C9D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4251960"/>
            <a:ext cx="2651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browser tool call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100584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4873752"/>
            <a:ext cx="1234440" cy="0"/>
          </a:xfrm>
          <a:prstGeom prst="line">
            <a:avLst/>
          </a:prstGeom>
          <a:noFill/>
          <a:ln w="10160">
            <a:solidFill>
              <a:srgbClr val="C9D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4754880"/>
            <a:ext cx="2651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ranked, inspectable results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1298448"/>
            <a:ext cx="3063240" cy="3611880"/>
          </a:xfrm>
          <a:prstGeom prst="roundRect">
            <a:avLst>
              <a:gd name="adj" fmla="val 3582"/>
            </a:avLst>
          </a:prstGeom>
          <a:solidFill>
            <a:srgbClr val="EAF5F2"/>
          </a:solidFill>
          <a:ln w="10160">
            <a:solidFill>
              <a:srgbClr val="B9D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60020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1965960"/>
            <a:ext cx="25146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University-city housing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Ohana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RentalSource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AffordableHousing.com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JSONL + CSV artifacts</a:t>
            </a:r>
            <a:endParaRPr lang="en-US" sz="1160" dirty="0"/>
          </a:p>
          <a:p>
            <a:pPr algn="l" indent="0" marL="0">
              <a:buNone/>
            </a:pPr>
            <a:r>
              <a:rPr lang="en-US" sz="11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Comparison, filters, map artifact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841248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4005072"/>
            <a:ext cx="25146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CAPTCHA bypass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APIs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Rate-limit evasion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Unverified facts as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agent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F6F1E7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5389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message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1720" y="132588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5F2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45389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memory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JSON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32588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5F2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45389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guards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132588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5F2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145389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132588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FFF4DE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145389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34440" y="370332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1F8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383133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370332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1F8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383133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370332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1F8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383133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370332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EAF1F8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383133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15400" y="3703320"/>
            <a:ext cx="1325880" cy="694944"/>
          </a:xfrm>
          <a:prstGeom prst="roundRect">
            <a:avLst>
              <a:gd name="adj" fmla="val 15789"/>
            </a:avLst>
          </a:prstGeom>
          <a:solidFill>
            <a:srgbClr val="F6E7E2"/>
          </a:solidFill>
          <a:ln w="10160">
            <a:solidFill>
              <a:srgbClr val="C9D4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88552" y="3831336"/>
            <a:ext cx="117043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20240" y="1673352"/>
            <a:ext cx="41148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49040" y="1673352"/>
            <a:ext cx="41148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77840" y="1673352"/>
            <a:ext cx="41148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06640" y="1673352"/>
            <a:ext cx="41148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485632" y="2020824"/>
            <a:ext cx="-6611112" cy="1682496"/>
          </a:xfrm>
          <a:prstGeom prst="line">
            <a:avLst/>
          </a:prstGeom>
          <a:noFill/>
          <a:ln w="15240">
            <a:solidFill>
              <a:srgbClr val="D9654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560320" y="4050792"/>
            <a:ext cx="59436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480560" y="4050792"/>
            <a:ext cx="59436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0" y="4050792"/>
            <a:ext cx="59436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21040" y="4050792"/>
            <a:ext cx="59436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31520" y="2487168"/>
            <a:ext cx="9875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Clarify branch: if city, dates, roommate situation, lease type, budget, amenities, distance target, or affordability conditions are missing, the agent asks a bounded follow-up.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731520" y="5074920"/>
            <a:ext cx="99669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Termination: quit/reset commands, canceled confirmation, no executable provider, provider failure/empty status, or successful result return.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" y="5715000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loop: ask preferences -&gt; choose one of three site tools -&gt; confirm -&gt; scrape -&gt; rank.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INCORPORATION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three site scrapers are the main tools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926080" cy="0"/>
          </a:xfrm>
          <a:prstGeom prst="line">
            <a:avLst/>
          </a:prstGeom>
          <a:noFill/>
          <a:ln w="50800">
            <a:solidFill>
              <a:srgbClr val="245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29718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for short-term student sublets, private/shared rooms, furnished rooms, and solo student searches in supported city hubs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07408" y="1325880"/>
            <a:ext cx="2926080" cy="0"/>
          </a:xfrm>
          <a:prstGeom prst="line">
            <a:avLst/>
          </a:prstGeom>
          <a:noFill/>
          <a:ln w="50800">
            <a:solidFill>
              <a:srgbClr val="2D8C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7408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RentalSource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408" y="1993392"/>
            <a:ext cx="29718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for long-term apartments, houses, full rentals, roommate groups, bedroom/bathroom needs, pets, photos, and sorting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325880"/>
            <a:ext cx="2926080" cy="0"/>
          </a:xfrm>
          <a:prstGeom prst="line">
            <a:avLst/>
          </a:prstGeom>
          <a:noFill/>
          <a:ln w="50800">
            <a:solidFill>
              <a:srgbClr val="D96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AffordableHousing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74736" y="1993392"/>
            <a:ext cx="29718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for students with voucher, Section 8, income-restricted, accessibility, utilities, or other affordability constraints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280160" y="3840480"/>
            <a:ext cx="9509760" cy="0"/>
          </a:xfrm>
          <a:prstGeom prst="line">
            <a:avLst/>
          </a:prstGeom>
          <a:noFill/>
          <a:ln w="12700">
            <a:solidFill>
              <a:srgbClr val="C9D4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1596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4536B"/>
          </a:solidFill>
          <a:ln w="12700">
            <a:solidFill>
              <a:srgbClr val="2453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379976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JSONL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971800" y="431596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2D8C7C"/>
          </a:solidFill>
          <a:ln w="12700">
            <a:solidFill>
              <a:srgbClr val="2D8C7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81528" y="4379976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CSV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120640" y="431596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D9654F"/>
          </a:solidFill>
          <a:ln w="12700">
            <a:solidFill>
              <a:srgbClr val="D9654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4379976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HTML/PNG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269480" y="431596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4379976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fields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418320" y="431596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4717B"/>
          </a:solidFill>
          <a:ln w="12700">
            <a:solidFill>
              <a:srgbClr val="64717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4379976"/>
            <a:ext cx="119786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status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14400" y="5257800"/>
            <a:ext cx="10149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choice: the conversation exists to decide among these tools; persistence makes each tool call inspectable after it runs.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AND RETRIEVAL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is structured state plus capability retrieval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vector store is used.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43891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agent, the safer retrieval target is the precise state needed to make a tool decision.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0" y="114300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435608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transcript, merged intent, corrections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486400" y="1929384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14300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1435608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fields, follow-ups, confidence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412480" y="1929384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49631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knowledge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 and filter classifications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486400" y="3282696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49631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state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confirmation, selected provider, max listings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412480" y="3282696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84962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state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4142232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records, errors, artifacts, metrics, visible list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5486400" y="4636008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84962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files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142232"/>
            <a:ext cx="2514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provider login state, never committed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412480" y="4636008"/>
            <a:ext cx="2468880" cy="0"/>
          </a:xfrm>
          <a:prstGeom prst="line">
            <a:avLst/>
          </a:prstGeom>
          <a:noFill/>
          <a:ln w="8890">
            <a:solidFill>
              <a:srgbClr val="C9D4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069080"/>
            <a:ext cx="4389120" cy="960120"/>
          </a:xfrm>
          <a:prstGeom prst="roundRect">
            <a:avLst>
              <a:gd name="adj" fmla="val 11429"/>
            </a:avLst>
          </a:prstGeom>
          <a:solidFill>
            <a:srgbClr val="EAF5F2"/>
          </a:solidFill>
          <a:ln w="10160">
            <a:solidFill>
              <a:srgbClr val="B9D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279392"/>
            <a:ext cx="914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60120" y="4572000"/>
            <a:ext cx="3886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memory is easier to test and safer than semantic memory, but it cannot answer arbitrary long-term knowledge questions.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choice is the core agentic decision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914400" cy="914400"/>
          </a:xfrm>
          <a:prstGeom prst="arc">
            <a:avLst/>
          </a:prstGeom>
          <a:noFill/>
          <a:ln w="50800">
            <a:solidFill>
              <a:srgbClr val="245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1700784"/>
            <a:ext cx="274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Ohana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01752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short-term, student/sublet, private/shared room, furnished, solo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914400" cy="914400"/>
          </a:xfrm>
          <a:prstGeom prst="arc">
            <a:avLst/>
          </a:prstGeom>
          <a:noFill/>
          <a:ln w="50800">
            <a:solidFill>
              <a:srgbClr val="2D8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1700784"/>
            <a:ext cx="274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RentalSource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301752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long-term, full rental, multiple roommates, beds/baths, pets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355080" y="1417320"/>
            <a:ext cx="914400" cy="914400"/>
          </a:xfrm>
          <a:prstGeom prst="arc">
            <a:avLst/>
          </a:prstGeom>
          <a:noFill/>
          <a:ln w="50800">
            <a:solidFill>
              <a:srgbClr val="D96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1700784"/>
            <a:ext cx="274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55080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AffordableHousing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voucher, Section 8, income-restricted, accessibility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144000" y="1417320"/>
            <a:ext cx="914400" cy="914400"/>
          </a:xfrm>
          <a:prstGeom prst="arc">
            <a:avLst/>
          </a:prstGeom>
          <a:noFill/>
          <a:ln w="50800">
            <a:solidFill>
              <a:srgbClr val="F2C1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54896" y="1700784"/>
            <a:ext cx="274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0" y="2615184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support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3017520"/>
            <a:ext cx="22402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questions, capability scoring, confirmation, result metrics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960120" y="4828032"/>
            <a:ext cx="9692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is not the main tool. The three scraper sites are. The agent decides which one fits the student's housing context.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LOGIC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Provider routing follows the user situation first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13232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/ room / sublet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Ohana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13232" y="2121408"/>
            <a:ext cx="2697480" cy="0"/>
          </a:xfrm>
          <a:prstGeom prst="line">
            <a:avLst/>
          </a:prstGeom>
          <a:noFill/>
          <a:ln w="25400">
            <a:solidFill>
              <a:srgbClr val="245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9152"/>
            <a:ext cx="28346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room, shared room, solo, furnished, campus, summer, semester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4416552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/ full rental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6552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RentalSource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416552" y="2121408"/>
            <a:ext cx="2697480" cy="0"/>
          </a:xfrm>
          <a:prstGeom prst="line">
            <a:avLst/>
          </a:prstGeom>
          <a:noFill/>
          <a:ln w="25400">
            <a:solidFill>
              <a:srgbClr val="2D8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359152"/>
            <a:ext cx="28346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roommates, bedrooms, bathrooms, apartment, house, pets, photos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8119872" y="1207008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Extenuating constraints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19872" y="1627632"/>
            <a:ext cx="3017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AffordableHousing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119872" y="2121408"/>
            <a:ext cx="2697480" cy="0"/>
          </a:xfrm>
          <a:prstGeom prst="line">
            <a:avLst/>
          </a:prstGeom>
          <a:noFill/>
          <a:ln w="25400">
            <a:solidFill>
              <a:srgbClr val="D96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2359152"/>
            <a:ext cx="28346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8, voucher, income restricted, accessibility, utilities, washer/dryer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82296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score still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source filter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260604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6888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post-filterable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34340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0624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unknown/unverified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08076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81812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9555480" y="4572000"/>
            <a:ext cx="731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18320" y="4956048"/>
            <a:ext cx="10058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login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68680" y="5614416"/>
            <a:ext cx="98755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flow gathers the fields that change the tool decision: dates, roommate count, lease type, campus/distance target, amenities, and affordability conditions.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model: constrain the risky edges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/ unsafe input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362456"/>
            <a:ext cx="73152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434840" y="1197864"/>
            <a:ext cx="3931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larger-city requirement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follow-up questions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77240" y="2020824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148840"/>
            <a:ext cx="73152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34840" y="1984248"/>
            <a:ext cx="3931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can only return JSON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execution instructions honored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77240" y="2807208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URL/tool 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935224"/>
            <a:ext cx="73152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434840" y="2770632"/>
            <a:ext cx="3931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allowlist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URL builders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77240" y="3593592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leakage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3721608"/>
            <a:ext cx="73152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434840" y="3557016"/>
            <a:ext cx="3931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auth/env files are local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explicit paths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77240" y="4379976"/>
            <a:ext cx="2514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recommendations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4507992"/>
            <a:ext cx="731520" cy="0"/>
          </a:xfrm>
          <a:prstGeom prst="line">
            <a:avLst/>
          </a:prstGeom>
          <a:noFill/>
          <a:ln w="15240">
            <a:solidFill>
              <a:srgbClr val="24536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434840" y="4343400"/>
            <a:ext cx="3931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facts surfaced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over-budget listings excluded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823960" y="13258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EAF5F2"/>
          </a:solidFill>
          <a:ln w="10160">
            <a:solidFill>
              <a:srgbClr val="B9D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600200"/>
            <a:ext cx="20116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pattern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2057400"/>
            <a:ext cx="19659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exceptions become typed results.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providers are preserved.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results include debug artifacts.</a:t>
            </a:r>
            <a:endParaRPr lang="en-US" sz="1120" dirty="0"/>
          </a:p>
          <a:p>
            <a:pPr algn="l" indent="0" marL="0">
              <a:buNone/>
            </a:pPr>
            <a:endParaRPr lang="en-US" sz="1120" dirty="0"/>
          </a:p>
          <a:p>
            <a:pPr algn="l" indent="0" marL="0">
              <a:buNone/>
            </a:pPr>
            <a:r>
              <a:rPr lang="en-US" sz="11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never happens without confirmation.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PRESENTATION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become a decision workspace, not just a list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29260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Student-centered metrics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4028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05740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housing type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7492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9204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9224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909560" y="1874520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26680" y="2240280"/>
            <a:ext cx="1051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narrowing commands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3712464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24536B"/>
          </a:solidFill>
          <a:ln w="12700">
            <a:solidFill>
              <a:srgbClr val="24536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776472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1 2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697480" y="3712464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2D8C7C"/>
          </a:solidFill>
          <a:ln w="12700">
            <a:solidFill>
              <a:srgbClr val="2D8C7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07208" y="3776472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1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0" y="3712464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D9654F"/>
          </a:solidFill>
          <a:ln w="12700">
            <a:solidFill>
              <a:srgbClr val="D9654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776472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cheaper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446520" y="3712464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F2C14E"/>
          </a:solidFill>
          <a:ln w="12700">
            <a:solidFill>
              <a:srgbClr val="F2C14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6248" y="3776472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closer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22960" y="4279392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24536B"/>
          </a:solidFill>
          <a:ln w="12700">
            <a:solidFill>
              <a:srgbClr val="24536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4343400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under 1800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697480" y="4279392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2D8C7C"/>
          </a:solidFill>
          <a:ln w="12700">
            <a:solidFill>
              <a:srgbClr val="2D8C7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7208" y="4343400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hide missing address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572000" y="4279392"/>
            <a:ext cx="1444752" cy="329184"/>
          </a:xfrm>
          <a:prstGeom prst="roundRect">
            <a:avLst>
              <a:gd name="adj" fmla="val 50000"/>
            </a:avLst>
          </a:prstGeom>
          <a:solidFill>
            <a:srgbClr val="D9654F"/>
          </a:solidFill>
          <a:ln w="12700">
            <a:solidFill>
              <a:srgbClr val="D9654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4343400"/>
            <a:ext cx="1225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map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863840" y="1261872"/>
            <a:ext cx="3337560" cy="4114800"/>
          </a:xfrm>
          <a:prstGeom prst="roundRect">
            <a:avLst>
              <a:gd name="adj" fmla="val 3288"/>
            </a:avLst>
          </a:prstGeom>
          <a:solidFill>
            <a:srgbClr val="EAF1F8"/>
          </a:solidFill>
          <a:ln w="10160">
            <a:solidFill>
              <a:srgbClr val="B7C8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1627632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artifact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83880" y="2057400"/>
            <a:ext cx="2697480" cy="2011680"/>
          </a:xfrm>
          <a:prstGeom prst="rect">
            <a:avLst/>
          </a:prstGeom>
          <a:solidFill>
            <a:srgbClr val="EEF3F4"/>
          </a:solidFill>
          <a:ln w="12700">
            <a:solidFill>
              <a:srgbClr val="C9D4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2057400"/>
            <a:ext cx="0" cy="201168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3880" y="2194560"/>
            <a:ext cx="2697480" cy="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2057400"/>
            <a:ext cx="0" cy="201168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2578608"/>
            <a:ext cx="2697480" cy="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8320" y="2057400"/>
            <a:ext cx="0" cy="201168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83880" y="2962656"/>
            <a:ext cx="2697480" cy="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66960" y="2057400"/>
            <a:ext cx="0" cy="201168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3880" y="3346704"/>
            <a:ext cx="2697480" cy="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15600" y="2057400"/>
            <a:ext cx="0" cy="201168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83880" y="3730752"/>
            <a:ext cx="2697480" cy="0"/>
          </a:xfrm>
          <a:prstGeom prst="line">
            <a:avLst/>
          </a:prstGeom>
          <a:noFill/>
          <a:ln w="6350">
            <a:solidFill>
              <a:srgbClr val="D8E0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32520" y="3310128"/>
            <a:ext cx="292608" cy="292608"/>
          </a:xfrm>
          <a:prstGeom prst="ellipse">
            <a:avLst/>
          </a:prstGeom>
          <a:solidFill>
            <a:srgbClr val="2D8C7C"/>
          </a:solidFill>
          <a:ln w="12700">
            <a:solidFill>
              <a:srgbClr val="2D8C7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05672" y="3374136"/>
            <a:ext cx="1463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829800" y="2743200"/>
            <a:ext cx="292608" cy="292608"/>
          </a:xfrm>
          <a:prstGeom prst="ellipse">
            <a:avLst/>
          </a:prstGeom>
          <a:solidFill>
            <a:srgbClr val="2D8C7C"/>
          </a:solidFill>
          <a:ln w="12700">
            <a:solidFill>
              <a:srgbClr val="2D8C7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02952" y="2807208"/>
            <a:ext cx="1463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281160" y="3063240"/>
            <a:ext cx="292608" cy="292608"/>
          </a:xfrm>
          <a:prstGeom prst="ellipse">
            <a:avLst/>
          </a:prstGeom>
          <a:solidFill>
            <a:srgbClr val="D9654F"/>
          </a:solidFill>
          <a:ln w="12700">
            <a:solidFill>
              <a:srgbClr val="D965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54312" y="3127248"/>
            <a:ext cx="1463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138160" y="4370832"/>
            <a:ext cx="2697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generated when listing coordinates exist; otherwise the agent says map unavailable.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covers routing, safety, failures, and result quality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passed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234440"/>
            <a:ext cx="9144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221992" y="1847088"/>
            <a:ext cx="1325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tests skipped by default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219456" cy="219456"/>
          </a:xfrm>
          <a:prstGeom prst="chevron">
            <a:avLst/>
          </a:prstGeom>
          <a:solidFill>
            <a:srgbClr val="24536B"/>
          </a:solidFill>
          <a:ln w="12700">
            <a:solidFill>
              <a:srgbClr val="245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5214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extraction and golden fixtures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0" y="1170432"/>
            <a:ext cx="219456" cy="219456"/>
          </a:xfrm>
          <a:prstGeom prst="chevron">
            <a:avLst/>
          </a:prstGeom>
          <a:solidFill>
            <a:srgbClr val="2D8C7C"/>
          </a:solidFill>
          <a:ln w="12700">
            <a:solidFill>
              <a:srgbClr val="2D8C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15214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 and question flow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219456" cy="219456"/>
          </a:xfrm>
          <a:prstGeom prst="chevron">
            <a:avLst/>
          </a:prstGeom>
          <a:solidFill>
            <a:srgbClr val="24536B"/>
          </a:solidFill>
          <a:ln w="12700">
            <a:solidFill>
              <a:srgbClr val="245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97510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capability matrix and planner scoring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680960" y="1993392"/>
            <a:ext cx="219456" cy="219456"/>
          </a:xfrm>
          <a:prstGeom prst="chevron">
            <a:avLst/>
          </a:prstGeom>
          <a:solidFill>
            <a:srgbClr val="2D8C7C"/>
          </a:solidFill>
          <a:ln w="12700">
            <a:solidFill>
              <a:srgbClr val="2D8C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97510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builders and provider-specific guards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572000" y="2816352"/>
            <a:ext cx="219456" cy="219456"/>
          </a:xfrm>
          <a:prstGeom prst="chevron">
            <a:avLst/>
          </a:prstGeom>
          <a:solidFill>
            <a:srgbClr val="24536B"/>
          </a:solidFill>
          <a:ln w="12700">
            <a:solidFill>
              <a:srgbClr val="2453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failure handling and multi-provider aggregation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680960" y="2816352"/>
            <a:ext cx="219456" cy="219456"/>
          </a:xfrm>
          <a:prstGeom prst="chevron">
            <a:avLst/>
          </a:prstGeom>
          <a:solidFill>
            <a:srgbClr val="2D8C7C"/>
          </a:solidFill>
          <a:ln w="12700">
            <a:solidFill>
              <a:srgbClr val="2D8C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28432" y="2798064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metrics, ranking parsing, result commands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77240" y="3977640"/>
            <a:ext cx="10149840" cy="1051560"/>
          </a:xfrm>
          <a:prstGeom prst="roundRect">
            <a:avLst>
              <a:gd name="adj" fmla="val 10435"/>
            </a:avLst>
          </a:prstGeom>
          <a:solidFill>
            <a:srgbClr val="F6F1E7"/>
          </a:solidFill>
          <a:ln w="10160">
            <a:solidFill>
              <a:srgbClr val="E1D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251960"/>
            <a:ext cx="1645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Opt-in live checks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251960"/>
            <a:ext cx="7863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RUN_LIVE_LLM_TESTS=1 for live Mistral behavior; RUN_LIVE_SCRAPE_TESTS=1 for live browser/provider behavior.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663440"/>
            <a:ext cx="7040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command used: PYTHONDONTWRITEBYTECODE=1 python3 -m unittest discover -s tests -v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behaviors to show in the demo or appendix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6350">
            <a:solidFill>
              <a:srgbClr val="C9D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17B"/>
                </a:solidFill>
              </a:rPr>
              <a:t>Housing Search Agent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8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31720" y="1252728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room in Boston under 1800 -&gt; Ohana -&gt; confirmed execution -&gt; metrics + artifacts.</a:t>
            </a:r>
            <a:endParaRPr lang="en-US" sz="126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9966960" cy="0"/>
          </a:xfrm>
          <a:prstGeom prst="line">
            <a:avLst/>
          </a:prstGeom>
          <a:noFill/>
          <a:ln w="7620">
            <a:solidFill>
              <a:srgbClr val="C9D4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2395728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Housing in New York -&gt; routing question -&gt; roommates + 3 bed -&gt; RentalSource.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777240" y="3035808"/>
            <a:ext cx="9966960" cy="0"/>
          </a:xfrm>
          <a:prstGeom prst="line">
            <a:avLst/>
          </a:prstGeom>
          <a:noFill/>
          <a:ln w="7620">
            <a:solidFill>
              <a:srgbClr val="C9D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6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/ failure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31720" y="3538728"/>
            <a:ext cx="8046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Cambridge-only request -&gt; asks larger city -&gt; Ohana URL uses Boston only; failures return typed status.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9966960" cy="0"/>
          </a:xfrm>
          <a:prstGeom prst="line">
            <a:avLst/>
          </a:prstGeom>
          <a:noFill/>
          <a:ln w="7620">
            <a:solidFill>
              <a:srgbClr val="C9D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9204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acknowledge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4892040"/>
            <a:ext cx="7132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memory, not vector RAG. Site DOMs can change. Date and amenity filters are not always verified. Map output needs coordinates.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77240" y="5779008"/>
            <a:ext cx="9784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5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the design thesis: language flexibility at the front, deterministic safety at the edge, inspectable artifacts at the end.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Housing Search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Search Agent Design</dc:title>
  <dc:subject>Design presentation for provider-aware housing search agent</dc:subject>
  <dc:creator>Codex</dc:creator>
  <cp:lastModifiedBy>Codex</cp:lastModifiedBy>
  <cp:revision>1</cp:revision>
  <dcterms:created xsi:type="dcterms:W3CDTF">2026-04-28T18:49:23Z</dcterms:created>
  <dcterms:modified xsi:type="dcterms:W3CDTF">2026-04-28T18:49:23Z</dcterms:modified>
</cp:coreProperties>
</file>